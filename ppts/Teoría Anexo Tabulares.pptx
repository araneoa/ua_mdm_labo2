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9" r:id="rId3"/>
    <p:sldId id="260" r:id="rId4"/>
    <p:sldId id="261" r:id="rId5"/>
    <p:sldId id="262" r:id="rId6"/>
    <p:sldId id="263" r:id="rId7"/>
    <p:sldId id="257" r:id="rId8"/>
    <p:sldId id="258" r:id="rId9"/>
  </p:sldIdLst>
  <p:sldSz cx="9144000" cy="5143500" type="screen16x9"/>
  <p:notesSz cx="6858000" cy="9144000"/>
  <p:embeddedFontLst>
    <p:embeddedFont>
      <p:font typeface="Sora" pitchFamily="2" charset="0"/>
      <p:regular r:id="rId11"/>
      <p:bold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68" d="100"/>
          <a:sy n="168" d="100"/>
        </p:scale>
        <p:origin x="662" y="6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46f18d5254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46f18d5254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46f18d5254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46f18d5254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46f18d5254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46f18d5254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46f18d5254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46f18d5254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470607a3b8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470607a3b8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02fefc93e3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02fefc93e3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46f18d5254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46f18d5254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scikit-learn.org/stable/modules/generated/sklearn.model_selection.GroupKFold.html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hyperlink" Target="https://scikit-learn.org/stable/modules/generated/sklearn.preprocessing.TargetEncoder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4500"/>
            <a:ext cx="914399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298650" y="1537825"/>
            <a:ext cx="8546700" cy="173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36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Teoría:</a:t>
            </a:r>
            <a:endParaRPr sz="3600">
              <a:solidFill>
                <a:srgbClr val="1C4587"/>
              </a:solidFill>
              <a:latin typeface="Sora"/>
              <a:ea typeface="Sora"/>
              <a:cs typeface="Sora"/>
              <a:sym typeface="Sora"/>
            </a:endParaRPr>
          </a:p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36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Anexo Tabulares</a:t>
            </a:r>
            <a:endParaRPr sz="3600">
              <a:solidFill>
                <a:srgbClr val="1C4587"/>
              </a:solidFill>
              <a:latin typeface="Sora"/>
              <a:ea typeface="Sora"/>
              <a:cs typeface="Sora"/>
              <a:sym typeface="Sor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4500"/>
            <a:ext cx="914399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6"/>
          <p:cNvSpPr txBox="1"/>
          <p:nvPr/>
        </p:nvSpPr>
        <p:spPr>
          <a:xfrm>
            <a:off x="972200" y="354125"/>
            <a:ext cx="4498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Overfitting por Features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0" name="Google Shape;90;p16"/>
          <p:cNvSpPr/>
          <p:nvPr/>
        </p:nvSpPr>
        <p:spPr>
          <a:xfrm>
            <a:off x="817025" y="354125"/>
            <a:ext cx="55200" cy="554100"/>
          </a:xfrm>
          <a:prstGeom prst="rect">
            <a:avLst/>
          </a:prstGeom>
          <a:solidFill>
            <a:srgbClr val="0B5394"/>
          </a:solidFill>
          <a:ln w="9525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6"/>
          <p:cNvSpPr txBox="1"/>
          <p:nvPr/>
        </p:nvSpPr>
        <p:spPr>
          <a:xfrm>
            <a:off x="419125" y="1297898"/>
            <a:ext cx="237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 b="1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Descripción</a:t>
            </a:r>
            <a:endParaRPr sz="1800">
              <a:solidFill>
                <a:schemeClr val="dk2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2" name="Google Shape;92;p16"/>
          <p:cNvSpPr txBox="1"/>
          <p:nvPr/>
        </p:nvSpPr>
        <p:spPr>
          <a:xfrm>
            <a:off x="419125" y="1667200"/>
            <a:ext cx="59616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Cuando trabajamos con demasiadas variables, los modelos tienden a </a:t>
            </a:r>
            <a:r>
              <a:rPr lang="es" sz="1000" b="1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memorizar los datos</a:t>
            </a:r>
            <a:r>
              <a:rPr lang="es" sz="10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 de entrenamiento en lugar de aprender patrones generalizables, lo que lleva al overfitting. </a:t>
            </a:r>
            <a:endParaRPr sz="1000">
              <a:solidFill>
                <a:srgbClr val="1C4587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3" name="Google Shape;93;p16"/>
          <p:cNvSpPr txBox="1"/>
          <p:nvPr/>
        </p:nvSpPr>
        <p:spPr>
          <a:xfrm>
            <a:off x="419125" y="2255200"/>
            <a:ext cx="4066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 b="1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¿Qué problemas nos genera?</a:t>
            </a:r>
            <a:endParaRPr sz="1800">
              <a:solidFill>
                <a:schemeClr val="dk2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94" name="Google Shape;94;p16"/>
          <p:cNvSpPr txBox="1"/>
          <p:nvPr/>
        </p:nvSpPr>
        <p:spPr>
          <a:xfrm>
            <a:off x="419125" y="2671425"/>
            <a:ext cx="5051700" cy="157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1000"/>
              <a:buFont typeface="Sora"/>
              <a:buChar char="-"/>
            </a:pPr>
            <a:r>
              <a:rPr lang="es" sz="1000" b="1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Brecha Métricas train/test</a:t>
            </a:r>
            <a:r>
              <a:rPr lang="es" sz="10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 </a:t>
            </a:r>
            <a:endParaRPr sz="1000">
              <a:solidFill>
                <a:srgbClr val="1C4587"/>
              </a:solidFill>
              <a:latin typeface="Sora"/>
              <a:ea typeface="Sora"/>
              <a:cs typeface="Sora"/>
              <a:sym typeface="Sora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1C4587"/>
              </a:solidFill>
              <a:latin typeface="Sora"/>
              <a:ea typeface="Sora"/>
              <a:cs typeface="Sora"/>
              <a:sym typeface="Sora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1000"/>
              <a:buFont typeface="Sora"/>
              <a:buChar char="-"/>
            </a:pPr>
            <a:r>
              <a:rPr lang="es" sz="1000" b="1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Inestabilidad en la predicción</a:t>
            </a:r>
            <a:br>
              <a:rPr lang="es" sz="1000" b="1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</a:br>
            <a:r>
              <a:rPr lang="es" sz="10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Pequeñas variaciones en los datos de entrada pueden producir cambios drásticos en las predicciones.</a:t>
            </a:r>
            <a:endParaRPr sz="1000">
              <a:solidFill>
                <a:srgbClr val="1C4587"/>
              </a:solidFill>
              <a:latin typeface="Sora"/>
              <a:ea typeface="Sora"/>
              <a:cs typeface="Sora"/>
              <a:sym typeface="Sora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1C4587"/>
              </a:solidFill>
              <a:latin typeface="Sora"/>
              <a:ea typeface="Sora"/>
              <a:cs typeface="Sora"/>
              <a:sym typeface="Sora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1000"/>
              <a:buFont typeface="Sora"/>
              <a:buChar char="-"/>
            </a:pPr>
            <a:r>
              <a:rPr lang="es" sz="1000" b="1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Costos de procesamiento</a:t>
            </a:r>
            <a:br>
              <a:rPr lang="es" sz="10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</a:br>
            <a:r>
              <a:rPr lang="es" sz="10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Tiempos de predicción y pipelines más costosas</a:t>
            </a:r>
            <a:endParaRPr sz="1000">
              <a:solidFill>
                <a:srgbClr val="1C4587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95" name="Google Shape;9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42125" y="2624500"/>
            <a:ext cx="3679398" cy="1838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4500"/>
            <a:ext cx="914399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7"/>
          <p:cNvSpPr txBox="1"/>
          <p:nvPr/>
        </p:nvSpPr>
        <p:spPr>
          <a:xfrm>
            <a:off x="972200" y="277925"/>
            <a:ext cx="4498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Overfitting por Features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2" name="Google Shape;102;p17"/>
          <p:cNvSpPr/>
          <p:nvPr/>
        </p:nvSpPr>
        <p:spPr>
          <a:xfrm>
            <a:off x="817025" y="354125"/>
            <a:ext cx="55200" cy="554100"/>
          </a:xfrm>
          <a:prstGeom prst="rect">
            <a:avLst/>
          </a:prstGeom>
          <a:solidFill>
            <a:srgbClr val="0B5394"/>
          </a:solidFill>
          <a:ln w="9525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7"/>
          <p:cNvSpPr txBox="1"/>
          <p:nvPr/>
        </p:nvSpPr>
        <p:spPr>
          <a:xfrm>
            <a:off x="419125" y="1145498"/>
            <a:ext cx="237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 b="1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Descripción</a:t>
            </a:r>
            <a:endParaRPr sz="1800">
              <a:solidFill>
                <a:schemeClr val="dk2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4" name="Google Shape;104;p17"/>
          <p:cNvSpPr txBox="1"/>
          <p:nvPr/>
        </p:nvSpPr>
        <p:spPr>
          <a:xfrm>
            <a:off x="419125" y="1438600"/>
            <a:ext cx="71640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Es un algoritmo de feature selection que busca el</a:t>
            </a:r>
            <a:r>
              <a:rPr lang="es" sz="1000" b="1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 subconjunto "mínimo-óptimo"</a:t>
            </a:r>
            <a:r>
              <a:rPr lang="es" sz="10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 de variables predictoras</a:t>
            </a:r>
            <a:endParaRPr sz="1000">
              <a:solidFill>
                <a:srgbClr val="1C4587"/>
              </a:solidFill>
              <a:latin typeface="Sora"/>
              <a:ea typeface="Sora"/>
              <a:cs typeface="Sora"/>
              <a:sym typeface="Sora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1000"/>
              <a:buFont typeface="Sora"/>
              <a:buChar char="●"/>
            </a:pPr>
            <a:r>
              <a:rPr lang="es" sz="10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Features que tienen una fuerte relación con el target. (Maximum Relevance)</a:t>
            </a:r>
            <a:endParaRPr sz="1000">
              <a:solidFill>
                <a:srgbClr val="1C4587"/>
              </a:solidFill>
              <a:latin typeface="Sora"/>
              <a:ea typeface="Sora"/>
              <a:cs typeface="Sora"/>
              <a:sym typeface="Sora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1000"/>
              <a:buFont typeface="Sora"/>
              <a:buChar char="●"/>
            </a:pPr>
            <a:r>
              <a:rPr lang="es" sz="10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Evita seleccionar features que aportan información similar entre sí (Minimum Redundancy)</a:t>
            </a:r>
            <a:endParaRPr sz="1000">
              <a:solidFill>
                <a:srgbClr val="1C4587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5" name="Google Shape;105;p17"/>
          <p:cNvSpPr txBox="1"/>
          <p:nvPr/>
        </p:nvSpPr>
        <p:spPr>
          <a:xfrm>
            <a:off x="419125" y="2179000"/>
            <a:ext cx="4066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 b="1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¿Cómo Funciona?</a:t>
            </a:r>
            <a:endParaRPr sz="1800">
              <a:solidFill>
                <a:schemeClr val="dk2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6" name="Google Shape;106;p17"/>
          <p:cNvSpPr txBox="1"/>
          <p:nvPr/>
        </p:nvSpPr>
        <p:spPr>
          <a:xfrm>
            <a:off x="419125" y="2595225"/>
            <a:ext cx="4708800" cy="19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1000"/>
              <a:buFont typeface="Sora"/>
              <a:buAutoNum type="arabicPeriod"/>
            </a:pPr>
            <a:r>
              <a:rPr lang="es" sz="10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El usuario determina </a:t>
            </a:r>
            <a:r>
              <a:rPr lang="es" sz="1000" b="1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K features finales</a:t>
            </a:r>
            <a:endParaRPr sz="1000" b="1">
              <a:solidFill>
                <a:srgbClr val="1C4587"/>
              </a:solidFill>
              <a:latin typeface="Sora"/>
              <a:ea typeface="Sora"/>
              <a:cs typeface="Sora"/>
              <a:sym typeface="Sora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1000"/>
              <a:buFont typeface="Sora"/>
              <a:buAutoNum type="arabicPeriod"/>
            </a:pPr>
            <a:r>
              <a:rPr lang="es" sz="10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En la primera iteración, se selecciona la característica con </a:t>
            </a:r>
            <a:r>
              <a:rPr lang="es" sz="1000" b="1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mayor F-statistic</a:t>
            </a:r>
            <a:r>
              <a:rPr lang="es" sz="10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 (mayor relevancia con el target)</a:t>
            </a:r>
            <a:endParaRPr sz="1000">
              <a:solidFill>
                <a:srgbClr val="1C4587"/>
              </a:solidFill>
              <a:latin typeface="Sora"/>
              <a:ea typeface="Sora"/>
              <a:cs typeface="Sora"/>
              <a:sym typeface="Sora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1000"/>
              <a:buFont typeface="Sora"/>
              <a:buAutoNum type="arabicPeriod"/>
            </a:pPr>
            <a:r>
              <a:rPr lang="es" sz="10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En iteraciones subsecuentes, para cada característica no seleccionada, se calcula:</a:t>
            </a:r>
            <a:br>
              <a:rPr lang="es" sz="10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</a:br>
            <a:br>
              <a:rPr lang="es" sz="10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</a:br>
            <a:br>
              <a:rPr lang="es" sz="10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</a:br>
            <a:endParaRPr sz="1000">
              <a:solidFill>
                <a:srgbClr val="1C4587"/>
              </a:solidFill>
              <a:latin typeface="Sora"/>
              <a:ea typeface="Sora"/>
              <a:cs typeface="Sora"/>
              <a:sym typeface="Sora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1000"/>
              <a:buFont typeface="Sora"/>
              <a:buAutoNum type="arabicPeriod"/>
            </a:pPr>
            <a:r>
              <a:rPr lang="es" sz="10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Se selecciona la </a:t>
            </a:r>
            <a:r>
              <a:rPr lang="es" sz="1000" b="1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característica con mayor puntuación</a:t>
            </a:r>
            <a:r>
              <a:rPr lang="es" sz="10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 y se repite hasta tener K características</a:t>
            </a:r>
            <a:endParaRPr sz="1000">
              <a:solidFill>
                <a:srgbClr val="1C4587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07" name="Google Shape;107;p17"/>
          <p:cNvSpPr txBox="1"/>
          <p:nvPr/>
        </p:nvSpPr>
        <p:spPr>
          <a:xfrm>
            <a:off x="972200" y="655825"/>
            <a:ext cx="48291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FFFFFF"/>
                </a:solidFill>
                <a:highlight>
                  <a:srgbClr val="073763"/>
                </a:highlight>
                <a:latin typeface="Sora"/>
                <a:ea typeface="Sora"/>
                <a:cs typeface="Sora"/>
                <a:sym typeface="Sora"/>
              </a:rPr>
              <a:t>MRMR (Maximum Relevance Minimum Redundancy) </a:t>
            </a:r>
            <a:endParaRPr sz="1100">
              <a:solidFill>
                <a:srgbClr val="FFFFFF"/>
              </a:solidFill>
              <a:highlight>
                <a:srgbClr val="073763"/>
              </a:highlight>
            </a:endParaRPr>
          </a:p>
        </p:txBody>
      </p:sp>
      <p:pic>
        <p:nvPicPr>
          <p:cNvPr id="108" name="Google Shape;10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25750" y="2479900"/>
            <a:ext cx="3875374" cy="183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65351" y="3561976"/>
            <a:ext cx="2974051" cy="45722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7"/>
          <p:cNvSpPr txBox="1"/>
          <p:nvPr/>
        </p:nvSpPr>
        <p:spPr>
          <a:xfrm>
            <a:off x="560625" y="4411350"/>
            <a:ext cx="80241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u="sng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Nota</a:t>
            </a:r>
            <a:r>
              <a:rPr lang="es" sz="10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:</a:t>
            </a:r>
            <a:endParaRPr sz="1000">
              <a:solidFill>
                <a:srgbClr val="1C4587"/>
              </a:solidFill>
              <a:latin typeface="Sora"/>
              <a:ea typeface="Sora"/>
              <a:cs typeface="Sora"/>
              <a:sym typeface="Sora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Recomiendo determinar el K de input iterando sobre varios valores y graficando la métrica objetivo previo a la optimización de hiperparámetros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4500"/>
            <a:ext cx="914399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8"/>
          <p:cNvSpPr txBox="1"/>
          <p:nvPr/>
        </p:nvSpPr>
        <p:spPr>
          <a:xfrm>
            <a:off x="972200" y="277925"/>
            <a:ext cx="4498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Overfitting por Features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7" name="Google Shape;117;p18"/>
          <p:cNvSpPr/>
          <p:nvPr/>
        </p:nvSpPr>
        <p:spPr>
          <a:xfrm>
            <a:off x="817025" y="354125"/>
            <a:ext cx="55200" cy="554100"/>
          </a:xfrm>
          <a:prstGeom prst="rect">
            <a:avLst/>
          </a:prstGeom>
          <a:solidFill>
            <a:srgbClr val="0B5394"/>
          </a:solidFill>
          <a:ln w="9525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18"/>
          <p:cNvSpPr txBox="1"/>
          <p:nvPr/>
        </p:nvSpPr>
        <p:spPr>
          <a:xfrm>
            <a:off x="419125" y="1069298"/>
            <a:ext cx="237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 b="1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Descripción</a:t>
            </a:r>
            <a:endParaRPr sz="1800">
              <a:solidFill>
                <a:schemeClr val="dk2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19" name="Google Shape;119;p18"/>
          <p:cNvSpPr txBox="1"/>
          <p:nvPr/>
        </p:nvSpPr>
        <p:spPr>
          <a:xfrm>
            <a:off x="419125" y="1362400"/>
            <a:ext cx="7164000" cy="51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BorutaSHAP es una adaptación moderna del algoritmo Boruta original que utiliza valores SHAP para determinar la importancia de las características</a:t>
            </a:r>
            <a:endParaRPr sz="1000">
              <a:solidFill>
                <a:srgbClr val="1C4587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0" name="Google Shape;120;p18"/>
          <p:cNvSpPr txBox="1"/>
          <p:nvPr/>
        </p:nvSpPr>
        <p:spPr>
          <a:xfrm>
            <a:off x="419125" y="1874200"/>
            <a:ext cx="4066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 b="1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¿Cómo Funciona?</a:t>
            </a:r>
            <a:endParaRPr sz="1800">
              <a:solidFill>
                <a:schemeClr val="dk2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1" name="Google Shape;121;p18"/>
          <p:cNvSpPr txBox="1"/>
          <p:nvPr/>
        </p:nvSpPr>
        <p:spPr>
          <a:xfrm>
            <a:off x="419125" y="2290425"/>
            <a:ext cx="5681100" cy="208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100"/>
              <a:buAutoNum type="arabicPeriod"/>
            </a:pPr>
            <a:r>
              <a:rPr lang="es" sz="10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Para cada iteración, crea </a:t>
            </a:r>
            <a:r>
              <a:rPr lang="es" sz="1000" b="1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versiones aleatorias</a:t>
            </a:r>
            <a:r>
              <a:rPr lang="es" sz="10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 de todas las variables (</a:t>
            </a:r>
            <a:r>
              <a:rPr lang="es" sz="1000" b="1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shadow</a:t>
            </a:r>
            <a:r>
              <a:rPr lang="es" sz="10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)</a:t>
            </a:r>
            <a:endParaRPr sz="1000">
              <a:solidFill>
                <a:srgbClr val="1C4587"/>
              </a:solidFill>
              <a:latin typeface="Sora"/>
              <a:ea typeface="Sora"/>
              <a:cs typeface="Sora"/>
              <a:sym typeface="Sora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100"/>
              <a:buAutoNum type="arabicPeriod"/>
            </a:pPr>
            <a:r>
              <a:rPr lang="es" sz="1000" b="1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Entrena</a:t>
            </a:r>
            <a:r>
              <a:rPr lang="es" sz="10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 un modelo (default: Random Forest)</a:t>
            </a:r>
            <a:endParaRPr sz="1000">
              <a:solidFill>
                <a:srgbClr val="1C4587"/>
              </a:solidFill>
              <a:latin typeface="Sora"/>
              <a:ea typeface="Sora"/>
              <a:cs typeface="Sora"/>
              <a:sym typeface="Sora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100"/>
              <a:buAutoNum type="arabicPeriod"/>
            </a:pPr>
            <a:r>
              <a:rPr lang="es" sz="10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Calcula importancias con </a:t>
            </a:r>
            <a:r>
              <a:rPr lang="es" sz="1000" b="1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SHAP</a:t>
            </a:r>
            <a:endParaRPr sz="1000" b="1">
              <a:solidFill>
                <a:srgbClr val="1C4587"/>
              </a:solidFill>
              <a:latin typeface="Sora"/>
              <a:ea typeface="Sora"/>
              <a:cs typeface="Sora"/>
              <a:sym typeface="Sora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100"/>
              <a:buAutoNum type="arabicPeriod"/>
            </a:pPr>
            <a:r>
              <a:rPr lang="es" sz="10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Si una variable </a:t>
            </a:r>
            <a:r>
              <a:rPr lang="es" sz="1000" b="1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supera a la mejor variable shadow</a:t>
            </a:r>
            <a:r>
              <a:rPr lang="es" sz="10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, recibe un </a:t>
            </a:r>
            <a:r>
              <a:rPr lang="es" sz="1000" b="1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"hit"</a:t>
            </a:r>
            <a:endParaRPr sz="1000" b="1">
              <a:solidFill>
                <a:srgbClr val="1C4587"/>
              </a:solidFill>
              <a:latin typeface="Sora"/>
              <a:ea typeface="Sora"/>
              <a:cs typeface="Sora"/>
              <a:sym typeface="Sora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100"/>
              <a:buAutoNum type="arabicPeriod"/>
            </a:pPr>
            <a:r>
              <a:rPr lang="es" sz="10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Después de múltiples iteraciones, aplica tests binomiales para determinar qué variables son </a:t>
            </a:r>
            <a:r>
              <a:rPr lang="es" sz="1000" b="1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significativamente mejores</a:t>
            </a:r>
            <a:endParaRPr sz="1000" b="1">
              <a:solidFill>
                <a:srgbClr val="1C4587"/>
              </a:solidFill>
              <a:latin typeface="Sora"/>
              <a:ea typeface="Sora"/>
              <a:cs typeface="Sora"/>
              <a:sym typeface="Sora"/>
            </a:endParaRPr>
          </a:p>
          <a:p>
            <a:pPr marL="457200" lvl="0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100"/>
              <a:buAutoNum type="arabicPeriod"/>
            </a:pPr>
            <a:r>
              <a:rPr lang="es" sz="10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Clasifica las variables como:</a:t>
            </a:r>
            <a:endParaRPr sz="1000">
              <a:solidFill>
                <a:srgbClr val="1C4587"/>
              </a:solidFill>
              <a:latin typeface="Sora"/>
              <a:ea typeface="Sora"/>
              <a:cs typeface="Sora"/>
              <a:sym typeface="Sora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100"/>
              <a:buAutoNum type="alphaLcPeriod"/>
            </a:pPr>
            <a:r>
              <a:rPr lang="es" sz="10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Aceptadas: Estadísticamente </a:t>
            </a:r>
            <a:r>
              <a:rPr lang="es" sz="1000" b="1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importantes</a:t>
            </a:r>
            <a:endParaRPr sz="1000" b="1">
              <a:solidFill>
                <a:srgbClr val="1C4587"/>
              </a:solidFill>
              <a:latin typeface="Sora"/>
              <a:ea typeface="Sora"/>
              <a:cs typeface="Sora"/>
              <a:sym typeface="Sora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100"/>
              <a:buAutoNum type="alphaLcPeriod"/>
            </a:pPr>
            <a:r>
              <a:rPr lang="es" sz="10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Rechazadas: Estadísticamente </a:t>
            </a:r>
            <a:r>
              <a:rPr lang="es" sz="1000" b="1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irrelevantes</a:t>
            </a:r>
            <a:endParaRPr sz="1000" b="1">
              <a:solidFill>
                <a:srgbClr val="1C4587"/>
              </a:solidFill>
              <a:latin typeface="Sora"/>
              <a:ea typeface="Sora"/>
              <a:cs typeface="Sora"/>
              <a:sym typeface="Sora"/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B5394"/>
              </a:buClr>
              <a:buSzPts val="1100"/>
              <a:buAutoNum type="alphaLcPeriod"/>
            </a:pPr>
            <a:r>
              <a:rPr lang="es" sz="10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Tentativas: Inciertas, requieren </a:t>
            </a:r>
            <a:r>
              <a:rPr lang="es" sz="1000" b="1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más análisis </a:t>
            </a:r>
            <a:r>
              <a:rPr lang="es" sz="10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o criterio experto</a:t>
            </a:r>
            <a:endParaRPr sz="1000">
              <a:solidFill>
                <a:srgbClr val="1C4587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22" name="Google Shape;122;p18"/>
          <p:cNvSpPr txBox="1"/>
          <p:nvPr/>
        </p:nvSpPr>
        <p:spPr>
          <a:xfrm>
            <a:off x="972200" y="655825"/>
            <a:ext cx="48291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rgbClr val="FFFFFF"/>
                </a:solidFill>
                <a:highlight>
                  <a:srgbClr val="073763"/>
                </a:highlight>
                <a:latin typeface="Sora"/>
                <a:ea typeface="Sora"/>
                <a:cs typeface="Sora"/>
                <a:sym typeface="Sora"/>
              </a:rPr>
              <a:t>BorutaShap </a:t>
            </a:r>
            <a:endParaRPr sz="1100">
              <a:solidFill>
                <a:srgbClr val="FFFFFF"/>
              </a:solidFill>
              <a:highlight>
                <a:srgbClr val="073763"/>
              </a:highlight>
            </a:endParaRPr>
          </a:p>
        </p:txBody>
      </p:sp>
      <p:pic>
        <p:nvPicPr>
          <p:cNvPr id="123" name="Google Shape;12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00125" y="2159800"/>
            <a:ext cx="2976525" cy="2084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8"/>
          <p:cNvSpPr txBox="1"/>
          <p:nvPr/>
        </p:nvSpPr>
        <p:spPr>
          <a:xfrm>
            <a:off x="499400" y="4348400"/>
            <a:ext cx="80241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u="sng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Nota</a:t>
            </a:r>
            <a:r>
              <a:rPr lang="es" sz="10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:</a:t>
            </a:r>
            <a:endParaRPr sz="1000">
              <a:solidFill>
                <a:srgbClr val="1C4587"/>
              </a:solidFill>
              <a:latin typeface="Sora"/>
              <a:ea typeface="Sora"/>
              <a:cs typeface="Sora"/>
              <a:sym typeface="Sora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El boruta normal usa gini (feature importance clásico). Es incapaz de ver relaciones entre variables a diferencia de shap. Es posible que seleccione features correlacionadas. Por este motivo se mejoró utilizando SHAP.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9"/>
          <p:cNvSpPr txBox="1"/>
          <p:nvPr/>
        </p:nvSpPr>
        <p:spPr>
          <a:xfrm>
            <a:off x="972200" y="277925"/>
            <a:ext cx="4498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Tipos de Leakage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1" name="Google Shape;131;p19"/>
          <p:cNvSpPr/>
          <p:nvPr/>
        </p:nvSpPr>
        <p:spPr>
          <a:xfrm>
            <a:off x="817025" y="354125"/>
            <a:ext cx="55200" cy="554100"/>
          </a:xfrm>
          <a:prstGeom prst="rect">
            <a:avLst/>
          </a:prstGeom>
          <a:solidFill>
            <a:srgbClr val="0B5394"/>
          </a:solidFill>
          <a:ln w="9525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19"/>
          <p:cNvSpPr txBox="1"/>
          <p:nvPr/>
        </p:nvSpPr>
        <p:spPr>
          <a:xfrm>
            <a:off x="419125" y="1069298"/>
            <a:ext cx="237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 b="1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Descripción</a:t>
            </a:r>
            <a:endParaRPr sz="1800">
              <a:solidFill>
                <a:schemeClr val="dk2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33" name="Google Shape;133;p19"/>
          <p:cNvSpPr txBox="1"/>
          <p:nvPr/>
        </p:nvSpPr>
        <p:spPr>
          <a:xfrm>
            <a:off x="419125" y="1362400"/>
            <a:ext cx="71640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dirty="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El data leakage ocurre cuando </a:t>
            </a:r>
            <a:r>
              <a:rPr lang="es" sz="1000" b="1" dirty="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información que no estaría disponible</a:t>
            </a:r>
            <a:r>
              <a:rPr lang="es" sz="1000" dirty="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 en un escenario real se filtra durante el entrenamiento del modelo, resultando en un </a:t>
            </a:r>
            <a:r>
              <a:rPr lang="es" sz="1000" b="1" dirty="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rendimiento artificialmente alto</a:t>
            </a:r>
            <a:r>
              <a:rPr lang="es" sz="1000" dirty="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 que no se podrá replicar en producción. El síntoma más común es una métrica poco plausible.</a:t>
            </a:r>
            <a:endParaRPr sz="1000" dirty="0">
              <a:solidFill>
                <a:srgbClr val="1C4587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34" name="Google Shape;134;p19"/>
          <p:cNvSpPr txBox="1"/>
          <p:nvPr/>
        </p:nvSpPr>
        <p:spPr>
          <a:xfrm>
            <a:off x="419125" y="2044950"/>
            <a:ext cx="4066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 b="1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Target Leakage</a:t>
            </a:r>
            <a:endParaRPr sz="1800">
              <a:solidFill>
                <a:schemeClr val="dk2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35" name="Google Shape;135;p19"/>
          <p:cNvSpPr txBox="1"/>
          <p:nvPr/>
        </p:nvSpPr>
        <p:spPr>
          <a:xfrm>
            <a:off x="972200" y="655825"/>
            <a:ext cx="48291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FFFFFF"/>
              </a:solidFill>
              <a:highlight>
                <a:srgbClr val="073763"/>
              </a:highlight>
            </a:endParaRPr>
          </a:p>
        </p:txBody>
      </p:sp>
      <p:sp>
        <p:nvSpPr>
          <p:cNvPr id="136" name="Google Shape;136;p19"/>
          <p:cNvSpPr txBox="1"/>
          <p:nvPr/>
        </p:nvSpPr>
        <p:spPr>
          <a:xfrm>
            <a:off x="419125" y="2319950"/>
            <a:ext cx="7164000" cy="12464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dirty="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Cuando variables predictoras incluyen información que </a:t>
            </a:r>
            <a:r>
              <a:rPr lang="es" sz="1000" b="1" dirty="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son un “proxy” </a:t>
            </a:r>
            <a:r>
              <a:rPr lang="es" sz="1000" dirty="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(o muy similar) del target.</a:t>
            </a:r>
            <a:br>
              <a:rPr lang="es" sz="1000" dirty="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</a:br>
            <a:br>
              <a:rPr lang="es" sz="1000" dirty="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</a:br>
            <a:r>
              <a:rPr lang="es" sz="1000" u="sng" dirty="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Detección y prevención</a:t>
            </a:r>
            <a:r>
              <a:rPr lang="es" sz="1000" dirty="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:</a:t>
            </a:r>
            <a:endParaRPr sz="1000" dirty="0">
              <a:solidFill>
                <a:srgbClr val="1C4587"/>
              </a:solidFill>
              <a:latin typeface="Sora"/>
              <a:ea typeface="Sora"/>
              <a:cs typeface="Sora"/>
              <a:sym typeface="Sora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1000"/>
              <a:buFont typeface="Sora"/>
              <a:buChar char="●"/>
            </a:pPr>
            <a:r>
              <a:rPr lang="es" sz="1000" dirty="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Correlación extremadamente alta (&gt;0.9) entre variable individual y el target</a:t>
            </a: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1000"/>
              <a:buFont typeface="Sora"/>
              <a:buChar char="●"/>
            </a:pPr>
            <a:r>
              <a:rPr lang="es" sz="1000" dirty="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¿Existe esta información al momento de predecir?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rgbClr val="1C4587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37" name="Google Shape;137;p19"/>
          <p:cNvSpPr txBox="1"/>
          <p:nvPr/>
        </p:nvSpPr>
        <p:spPr>
          <a:xfrm>
            <a:off x="387825" y="3315175"/>
            <a:ext cx="4066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 b="1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Train-Test Contamination</a:t>
            </a:r>
            <a:endParaRPr sz="1800">
              <a:solidFill>
                <a:schemeClr val="dk2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38" name="Google Shape;138;p19"/>
          <p:cNvSpPr txBox="1"/>
          <p:nvPr/>
        </p:nvSpPr>
        <p:spPr>
          <a:xfrm>
            <a:off x="419125" y="3684475"/>
            <a:ext cx="7164000" cy="157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dirty="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Cuando información del conjunto de prueba </a:t>
            </a:r>
            <a:r>
              <a:rPr lang="es" sz="1000" b="1" dirty="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se filtra al proceso de entrenamiento</a:t>
            </a:r>
            <a:r>
              <a:rPr lang="es" sz="1000" dirty="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, sucede también con aspectos del </a:t>
            </a:r>
            <a:r>
              <a:rPr lang="es" sz="1000" b="1" dirty="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preprocesamiento</a:t>
            </a:r>
            <a:r>
              <a:rPr lang="es" sz="1000" dirty="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 como scalers o encoders. También sucede cuando no usamos una capa de validación posterior a la </a:t>
            </a:r>
            <a:r>
              <a:rPr lang="es" sz="1000" b="1" dirty="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optimización de hiperparámetros</a:t>
            </a:r>
            <a:r>
              <a:rPr lang="es" sz="1000" dirty="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.</a:t>
            </a:r>
            <a:br>
              <a:rPr lang="es" sz="1000" dirty="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</a:br>
            <a:br>
              <a:rPr lang="es" sz="1000" dirty="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</a:br>
            <a:r>
              <a:rPr lang="es" sz="1000" u="sng" dirty="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Detección y prevención</a:t>
            </a:r>
            <a:r>
              <a:rPr lang="es" sz="1000" dirty="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:</a:t>
            </a:r>
            <a:endParaRPr sz="1000" dirty="0">
              <a:solidFill>
                <a:srgbClr val="1C4587"/>
              </a:solidFill>
              <a:latin typeface="Sora"/>
              <a:ea typeface="Sora"/>
              <a:cs typeface="Sora"/>
              <a:sym typeface="Sora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rgbClr val="1C4587"/>
              </a:solidFill>
              <a:latin typeface="Sora"/>
              <a:ea typeface="Sora"/>
              <a:cs typeface="Sora"/>
              <a:sym typeface="Sora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1000"/>
              <a:buFont typeface="Sora"/>
              <a:buChar char="●"/>
            </a:pPr>
            <a:r>
              <a:rPr lang="es" sz="1000" dirty="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En caso de duda, utilizar una capa extra de datos nunca antes vistos y samplear resultados.</a:t>
            </a:r>
            <a:endParaRPr sz="1000" dirty="0">
              <a:solidFill>
                <a:srgbClr val="1C4587"/>
              </a:solidFill>
              <a:latin typeface="Sora"/>
              <a:ea typeface="Sora"/>
              <a:cs typeface="Sora"/>
              <a:sym typeface="Sora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rgbClr val="1C4587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" name="Google Shape;78;p15">
            <a:extLst>
              <a:ext uri="{FF2B5EF4-FFF2-40B4-BE49-F238E27FC236}">
                <a16:creationId xmlns:a16="http://schemas.microsoft.com/office/drawing/2014/main" id="{EDC74AC1-912B-A952-3705-145BFFC5225A}"/>
              </a:ext>
            </a:extLst>
          </p:cNvPr>
          <p:cNvSpPr/>
          <p:nvPr/>
        </p:nvSpPr>
        <p:spPr>
          <a:xfrm>
            <a:off x="6895462" y="2135700"/>
            <a:ext cx="2086410" cy="12818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rgbClr val="0B539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134F5C"/>
              </a:solidFill>
              <a:highlight>
                <a:schemeClr val="lt2"/>
              </a:highlight>
            </a:endParaRPr>
          </a:p>
        </p:txBody>
      </p:sp>
      <p:sp>
        <p:nvSpPr>
          <p:cNvPr id="3" name="Google Shape;79;p15">
            <a:extLst>
              <a:ext uri="{FF2B5EF4-FFF2-40B4-BE49-F238E27FC236}">
                <a16:creationId xmlns:a16="http://schemas.microsoft.com/office/drawing/2014/main" id="{01BB9EC7-BD95-5997-45D2-73DDC4F6B114}"/>
              </a:ext>
            </a:extLst>
          </p:cNvPr>
          <p:cNvSpPr txBox="1"/>
          <p:nvPr/>
        </p:nvSpPr>
        <p:spPr>
          <a:xfrm>
            <a:off x="7358023" y="2135085"/>
            <a:ext cx="894276" cy="39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 b="1" dirty="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Ejemplo</a:t>
            </a:r>
            <a:endParaRPr sz="1800" dirty="0">
              <a:solidFill>
                <a:schemeClr val="dk2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" name="Google Shape;80;p15">
            <a:extLst>
              <a:ext uri="{FF2B5EF4-FFF2-40B4-BE49-F238E27FC236}">
                <a16:creationId xmlns:a16="http://schemas.microsoft.com/office/drawing/2014/main" id="{88C4DC60-C524-CAEA-F05B-29F220C112E3}"/>
              </a:ext>
            </a:extLst>
          </p:cNvPr>
          <p:cNvSpPr txBox="1"/>
          <p:nvPr/>
        </p:nvSpPr>
        <p:spPr>
          <a:xfrm>
            <a:off x="6912238" y="2466143"/>
            <a:ext cx="2069633" cy="9540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s-ES" sz="1000" dirty="0">
                <a:solidFill>
                  <a:srgbClr val="1C4587"/>
                </a:solidFill>
                <a:latin typeface="Sora"/>
                <a:cs typeface="Sora"/>
              </a:rPr>
              <a:t>medicamento = </a:t>
            </a:r>
            <a:r>
              <a:rPr lang="es-ES" sz="1000" dirty="0" err="1">
                <a:solidFill>
                  <a:srgbClr val="1C4587"/>
                </a:solidFill>
                <a:latin typeface="Sora"/>
                <a:cs typeface="Sora"/>
              </a:rPr>
              <a:t>antibiótico_respiratorio</a:t>
            </a:r>
            <a:endParaRPr lang="es-ES" sz="1000" dirty="0">
              <a:solidFill>
                <a:srgbClr val="1C4587"/>
              </a:solidFill>
              <a:latin typeface="Sora"/>
              <a:cs typeface="Sora"/>
            </a:endParaRPr>
          </a:p>
          <a:p>
            <a:pPr lvl="0"/>
            <a:br>
              <a:rPr lang="es-ES" sz="1000" dirty="0">
                <a:solidFill>
                  <a:srgbClr val="1C4587"/>
                </a:solidFill>
                <a:latin typeface="Sora"/>
                <a:cs typeface="Sora"/>
              </a:rPr>
            </a:br>
            <a:r>
              <a:rPr lang="es-ES" sz="1000" dirty="0">
                <a:solidFill>
                  <a:srgbClr val="1C4587"/>
                </a:solidFill>
                <a:latin typeface="Sora"/>
                <a:cs typeface="Sora"/>
              </a:rPr>
              <a:t>Predecir si un paciente tiene neumonía</a:t>
            </a:r>
            <a:endParaRPr sz="1000" dirty="0">
              <a:solidFill>
                <a:srgbClr val="1C4587"/>
              </a:solidFill>
              <a:latin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399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0"/>
          <p:cNvSpPr txBox="1"/>
          <p:nvPr/>
        </p:nvSpPr>
        <p:spPr>
          <a:xfrm>
            <a:off x="972200" y="277925"/>
            <a:ext cx="4498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Tipos de Leakage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5" name="Google Shape;145;p20"/>
          <p:cNvSpPr/>
          <p:nvPr/>
        </p:nvSpPr>
        <p:spPr>
          <a:xfrm>
            <a:off x="817025" y="354125"/>
            <a:ext cx="55200" cy="554100"/>
          </a:xfrm>
          <a:prstGeom prst="rect">
            <a:avLst/>
          </a:prstGeom>
          <a:solidFill>
            <a:srgbClr val="0B5394"/>
          </a:solidFill>
          <a:ln w="9525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20"/>
          <p:cNvSpPr txBox="1"/>
          <p:nvPr/>
        </p:nvSpPr>
        <p:spPr>
          <a:xfrm>
            <a:off x="419125" y="1206750"/>
            <a:ext cx="4066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 b="1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Leakage Temporal</a:t>
            </a:r>
            <a:endParaRPr sz="1800">
              <a:solidFill>
                <a:schemeClr val="dk2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47" name="Google Shape;147;p20"/>
          <p:cNvSpPr txBox="1"/>
          <p:nvPr/>
        </p:nvSpPr>
        <p:spPr>
          <a:xfrm>
            <a:off x="972200" y="655825"/>
            <a:ext cx="48291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FFFFFF"/>
              </a:solidFill>
              <a:highlight>
                <a:srgbClr val="073763"/>
              </a:highlight>
            </a:endParaRPr>
          </a:p>
        </p:txBody>
      </p:sp>
      <p:sp>
        <p:nvSpPr>
          <p:cNvPr id="148" name="Google Shape;148;p20"/>
          <p:cNvSpPr txBox="1"/>
          <p:nvPr/>
        </p:nvSpPr>
        <p:spPr>
          <a:xfrm>
            <a:off x="419125" y="1481750"/>
            <a:ext cx="7164000" cy="1777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dirty="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Cuando se usa </a:t>
            </a:r>
            <a:r>
              <a:rPr lang="es" sz="1000" b="1" dirty="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información del futuro</a:t>
            </a:r>
            <a:r>
              <a:rPr lang="es" sz="1000" dirty="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 para predecir el pasado.</a:t>
            </a:r>
            <a:br>
              <a:rPr lang="es" sz="1000" dirty="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</a:br>
            <a:br>
              <a:rPr lang="es" sz="1000" dirty="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</a:br>
            <a:r>
              <a:rPr lang="es" sz="1000" u="sng" dirty="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Detección y prevención</a:t>
            </a:r>
            <a:r>
              <a:rPr lang="es" sz="1000" dirty="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:</a:t>
            </a:r>
            <a:endParaRPr sz="1000" dirty="0">
              <a:solidFill>
                <a:srgbClr val="1C4587"/>
              </a:solidFill>
              <a:latin typeface="Sora"/>
              <a:ea typeface="Sora"/>
              <a:cs typeface="Sora"/>
              <a:sym typeface="Sora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rgbClr val="1C4587"/>
              </a:solidFill>
              <a:latin typeface="Sora"/>
              <a:ea typeface="Sora"/>
              <a:cs typeface="Sora"/>
              <a:sym typeface="Sora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1000"/>
              <a:buFont typeface="Sora"/>
              <a:buChar char="●"/>
            </a:pPr>
            <a:r>
              <a:rPr lang="es" sz="1000" dirty="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Verificar orden cronológico de los sucesos</a:t>
            </a:r>
            <a:endParaRPr sz="1000" dirty="0">
              <a:solidFill>
                <a:srgbClr val="1C4587"/>
              </a:solidFill>
              <a:latin typeface="Sora"/>
              <a:ea typeface="Sora"/>
              <a:cs typeface="Sora"/>
              <a:sym typeface="Sora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1000"/>
              <a:buFont typeface="Sora"/>
              <a:buChar char="●"/>
            </a:pPr>
            <a:r>
              <a:rPr lang="es" sz="1000" dirty="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Simular el proceso de predicción en tiempo real para validación</a:t>
            </a:r>
            <a:endParaRPr sz="1000" dirty="0">
              <a:solidFill>
                <a:srgbClr val="1C4587"/>
              </a:solidFill>
              <a:latin typeface="Sora"/>
              <a:ea typeface="Sora"/>
              <a:cs typeface="Sora"/>
              <a:sym typeface="Sora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1000"/>
              <a:buFont typeface="Sora"/>
              <a:buChar char="●"/>
            </a:pPr>
            <a:r>
              <a:rPr lang="es" sz="1000" dirty="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Walk Forward Validation</a:t>
            </a: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1000"/>
              <a:buFont typeface="Sora"/>
              <a:buChar char="●"/>
            </a:pPr>
            <a:r>
              <a:rPr lang="es" sz="1000" dirty="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Usar tablas que tengan la misma info del momento de la inferencia y no la actual!</a:t>
            </a:r>
            <a:endParaRPr sz="1000" dirty="0">
              <a:solidFill>
                <a:srgbClr val="1C4587"/>
              </a:solidFill>
              <a:latin typeface="Sora"/>
              <a:ea typeface="Sora"/>
              <a:cs typeface="Sora"/>
              <a:sym typeface="Sora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rgbClr val="1C4587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49" name="Google Shape;149;p20"/>
          <p:cNvSpPr txBox="1"/>
          <p:nvPr/>
        </p:nvSpPr>
        <p:spPr>
          <a:xfrm>
            <a:off x="419125" y="3004250"/>
            <a:ext cx="4066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 b="1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Group Leakage</a:t>
            </a:r>
            <a:endParaRPr sz="1800">
              <a:solidFill>
                <a:schemeClr val="dk2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150" name="Google Shape;150;p20"/>
          <p:cNvSpPr txBox="1"/>
          <p:nvPr/>
        </p:nvSpPr>
        <p:spPr>
          <a:xfrm>
            <a:off x="443625" y="3304850"/>
            <a:ext cx="7164000" cy="19543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 dirty="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Cuando </a:t>
            </a:r>
            <a:r>
              <a:rPr lang="es" sz="1000" b="1" dirty="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entidades relacionadas</a:t>
            </a:r>
            <a:r>
              <a:rPr lang="es" sz="1000" dirty="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 aparecen en diferentes conjuntos (train/validation/test). No se cumple la </a:t>
            </a:r>
            <a:r>
              <a:rPr lang="es" sz="1000" b="1" dirty="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independencia</a:t>
            </a:r>
            <a:r>
              <a:rPr lang="es" sz="1000" dirty="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 de las observaciones.</a:t>
            </a:r>
            <a:br>
              <a:rPr lang="es" sz="1000" dirty="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</a:br>
            <a:br>
              <a:rPr lang="es" sz="1000" dirty="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</a:br>
            <a:r>
              <a:rPr lang="es" sz="1000" u="sng" dirty="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Detección y prevención</a:t>
            </a:r>
            <a:r>
              <a:rPr lang="es" sz="1000" dirty="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:</a:t>
            </a:r>
            <a:endParaRPr sz="1000" dirty="0">
              <a:solidFill>
                <a:srgbClr val="1C4587"/>
              </a:solidFill>
              <a:latin typeface="Sora"/>
              <a:ea typeface="Sora"/>
              <a:cs typeface="Sora"/>
              <a:sym typeface="Sora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rgbClr val="1C4587"/>
              </a:solidFill>
              <a:latin typeface="Sora"/>
              <a:ea typeface="Sora"/>
              <a:cs typeface="Sora"/>
              <a:sym typeface="Sora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1000"/>
              <a:buFont typeface="Sora"/>
              <a:buChar char="●"/>
            </a:pPr>
            <a:r>
              <a:rPr lang="es" sz="1000" dirty="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Múltiples observaciones de la misma entidad</a:t>
            </a:r>
            <a:endParaRPr sz="1000" dirty="0">
              <a:solidFill>
                <a:srgbClr val="1C4587"/>
              </a:solidFill>
              <a:latin typeface="Sora"/>
              <a:ea typeface="Sora"/>
              <a:cs typeface="Sora"/>
              <a:sym typeface="Sora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1000"/>
              <a:buFont typeface="Sora"/>
              <a:buChar char="●"/>
            </a:pPr>
            <a:r>
              <a:rPr lang="es" sz="1000" dirty="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Identificar estructuras de grupos en los datos</a:t>
            </a:r>
            <a:endParaRPr sz="1000" dirty="0">
              <a:solidFill>
                <a:srgbClr val="1C4587"/>
              </a:solidFill>
              <a:latin typeface="Sora"/>
              <a:ea typeface="Sora"/>
              <a:cs typeface="Sora"/>
              <a:sym typeface="Sora"/>
            </a:endParaRPr>
          </a:p>
          <a:p>
            <a:pPr marL="457200" lvl="0" indent="-292100">
              <a:lnSpc>
                <a:spcPct val="115000"/>
              </a:lnSpc>
              <a:buClr>
                <a:srgbClr val="1C4587"/>
              </a:buClr>
              <a:buSzPts val="1000"/>
              <a:buFont typeface="Sora"/>
              <a:buChar char="●"/>
            </a:pPr>
            <a:r>
              <a:rPr lang="es" sz="1000" dirty="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Group based splitting </a:t>
            </a:r>
            <a:r>
              <a:rPr lang="es-ES" sz="1000" dirty="0">
                <a:solidFill>
                  <a:srgbClr val="1C4587"/>
                </a:solidFill>
                <a:latin typeface="Sora"/>
                <a:cs typeface="Sora"/>
              </a:rPr>
              <a:t>(</a:t>
            </a:r>
            <a:r>
              <a:rPr lang="es-ES" sz="1000" dirty="0" err="1">
                <a:solidFill>
                  <a:srgbClr val="1C4587"/>
                </a:solidFill>
                <a:latin typeface="Sora"/>
                <a:cs typeface="Sora"/>
              </a:rPr>
              <a:t>ej</a:t>
            </a:r>
            <a:r>
              <a:rPr lang="es-ES" sz="1000" dirty="0">
                <a:solidFill>
                  <a:srgbClr val="1C4587"/>
                </a:solidFill>
                <a:latin typeface="Sora"/>
                <a:cs typeface="Sora"/>
              </a:rPr>
              <a:t>: </a:t>
            </a:r>
            <a:r>
              <a:rPr lang="es-ES" sz="1000" dirty="0" err="1">
                <a:solidFill>
                  <a:srgbClr val="1C4587"/>
                </a:solidFill>
                <a:latin typeface="Sora"/>
                <a:cs typeface="Sora"/>
                <a:hlinkClick r:id="rId4"/>
              </a:rPr>
              <a:t>GroupKFold</a:t>
            </a:r>
            <a:r>
              <a:rPr lang="es-ES" sz="1000" dirty="0">
                <a:solidFill>
                  <a:srgbClr val="1C4587"/>
                </a:solidFill>
                <a:latin typeface="Sora"/>
                <a:cs typeface="Sora"/>
              </a:rPr>
              <a:t>)</a:t>
            </a:r>
          </a:p>
          <a:p>
            <a:pPr marL="457200" lvl="0" indent="-292100">
              <a:lnSpc>
                <a:spcPct val="115000"/>
              </a:lnSpc>
              <a:buClr>
                <a:srgbClr val="1C4587"/>
              </a:buClr>
              <a:buSzPts val="1000"/>
              <a:buFont typeface="Sora"/>
              <a:buChar char="●"/>
            </a:pPr>
            <a:r>
              <a:rPr lang="es-ES" sz="1000" dirty="0">
                <a:solidFill>
                  <a:srgbClr val="1C4587"/>
                </a:solidFill>
                <a:latin typeface="Sora"/>
                <a:cs typeface="Sora"/>
                <a:sym typeface="Sora"/>
              </a:rPr>
              <a:t>Asegurarse de no tener registros exactamente duplicados</a:t>
            </a:r>
            <a:endParaRPr sz="1000" dirty="0">
              <a:solidFill>
                <a:srgbClr val="1C4587"/>
              </a:solidFill>
              <a:latin typeface="Sora"/>
              <a:cs typeface="Sora"/>
              <a:sym typeface="Sora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rgbClr val="1C4587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2" name="Google Shape;78;p15">
            <a:extLst>
              <a:ext uri="{FF2B5EF4-FFF2-40B4-BE49-F238E27FC236}">
                <a16:creationId xmlns:a16="http://schemas.microsoft.com/office/drawing/2014/main" id="{31105AE5-CFEA-9156-B102-9DD04C4746AB}"/>
              </a:ext>
            </a:extLst>
          </p:cNvPr>
          <p:cNvSpPr/>
          <p:nvPr/>
        </p:nvSpPr>
        <p:spPr>
          <a:xfrm>
            <a:off x="6503113" y="1516372"/>
            <a:ext cx="1810793" cy="1130632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rgbClr val="0B539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134F5C"/>
              </a:solidFill>
              <a:highlight>
                <a:schemeClr val="lt2"/>
              </a:highlight>
            </a:endParaRPr>
          </a:p>
        </p:txBody>
      </p:sp>
      <p:sp>
        <p:nvSpPr>
          <p:cNvPr id="3" name="Google Shape;79;p15">
            <a:extLst>
              <a:ext uri="{FF2B5EF4-FFF2-40B4-BE49-F238E27FC236}">
                <a16:creationId xmlns:a16="http://schemas.microsoft.com/office/drawing/2014/main" id="{2E0C2212-8FB0-ACF3-8E9B-5C4433580F3C}"/>
              </a:ext>
            </a:extLst>
          </p:cNvPr>
          <p:cNvSpPr txBox="1"/>
          <p:nvPr/>
        </p:nvSpPr>
        <p:spPr>
          <a:xfrm>
            <a:off x="6965674" y="1515757"/>
            <a:ext cx="894276" cy="39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 b="1" dirty="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Ejemplo</a:t>
            </a:r>
            <a:endParaRPr sz="1800" dirty="0">
              <a:solidFill>
                <a:schemeClr val="dk2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4" name="Google Shape;80;p15">
            <a:extLst>
              <a:ext uri="{FF2B5EF4-FFF2-40B4-BE49-F238E27FC236}">
                <a16:creationId xmlns:a16="http://schemas.microsoft.com/office/drawing/2014/main" id="{14E79C3D-6528-DDA9-A7BC-9A7858CFCFFF}"/>
              </a:ext>
            </a:extLst>
          </p:cNvPr>
          <p:cNvSpPr txBox="1"/>
          <p:nvPr/>
        </p:nvSpPr>
        <p:spPr>
          <a:xfrm>
            <a:off x="6519889" y="1846815"/>
            <a:ext cx="1962630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s-ES" sz="1000" dirty="0" err="1">
                <a:solidFill>
                  <a:srgbClr val="1C4587"/>
                </a:solidFill>
                <a:latin typeface="Sora"/>
                <a:cs typeface="Sora"/>
              </a:rPr>
              <a:t>user_status</a:t>
            </a:r>
            <a:r>
              <a:rPr lang="es-ES" sz="1000" dirty="0">
                <a:solidFill>
                  <a:srgbClr val="1C4587"/>
                </a:solidFill>
                <a:latin typeface="Sora"/>
                <a:cs typeface="Sora"/>
              </a:rPr>
              <a:t> = </a:t>
            </a:r>
            <a:r>
              <a:rPr lang="es-ES" sz="1000" dirty="0" err="1">
                <a:solidFill>
                  <a:srgbClr val="1C4587"/>
                </a:solidFill>
                <a:latin typeface="Sora"/>
                <a:cs typeface="Sora"/>
              </a:rPr>
              <a:t>blocked</a:t>
            </a:r>
            <a:endParaRPr lang="es-ES" sz="1000" dirty="0">
              <a:solidFill>
                <a:srgbClr val="1C4587"/>
              </a:solidFill>
              <a:latin typeface="Sora"/>
              <a:cs typeface="Sora"/>
            </a:endParaRPr>
          </a:p>
          <a:p>
            <a:pPr lvl="0"/>
            <a:br>
              <a:rPr lang="es-ES" sz="1000" dirty="0">
                <a:solidFill>
                  <a:srgbClr val="1C4587"/>
                </a:solidFill>
                <a:latin typeface="Sora"/>
                <a:cs typeface="Sora"/>
              </a:rPr>
            </a:br>
            <a:r>
              <a:rPr lang="es-ES" sz="1000" dirty="0">
                <a:solidFill>
                  <a:srgbClr val="1C4587"/>
                </a:solidFill>
                <a:latin typeface="Sora"/>
                <a:cs typeface="Sora"/>
              </a:rPr>
              <a:t>Predecir si un usuario es fraudulento</a:t>
            </a:r>
            <a:endParaRPr sz="1000" dirty="0">
              <a:solidFill>
                <a:srgbClr val="1C4587"/>
              </a:solidFill>
              <a:latin typeface="Sora"/>
              <a:cs typeface="Sora"/>
              <a:sym typeface="Sora"/>
            </a:endParaRPr>
          </a:p>
        </p:txBody>
      </p:sp>
      <p:sp>
        <p:nvSpPr>
          <p:cNvPr id="5" name="Google Shape;78;p15">
            <a:extLst>
              <a:ext uri="{FF2B5EF4-FFF2-40B4-BE49-F238E27FC236}">
                <a16:creationId xmlns:a16="http://schemas.microsoft.com/office/drawing/2014/main" id="{26A68401-D67B-56C8-1DBC-33DACD1F611C}"/>
              </a:ext>
            </a:extLst>
          </p:cNvPr>
          <p:cNvSpPr/>
          <p:nvPr/>
        </p:nvSpPr>
        <p:spPr>
          <a:xfrm>
            <a:off x="6454471" y="3679178"/>
            <a:ext cx="2469035" cy="1022524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rgbClr val="0B539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134F5C"/>
              </a:solidFill>
              <a:highlight>
                <a:schemeClr val="lt2"/>
              </a:highlight>
            </a:endParaRPr>
          </a:p>
        </p:txBody>
      </p:sp>
      <p:sp>
        <p:nvSpPr>
          <p:cNvPr id="6" name="Google Shape;79;p15">
            <a:extLst>
              <a:ext uri="{FF2B5EF4-FFF2-40B4-BE49-F238E27FC236}">
                <a16:creationId xmlns:a16="http://schemas.microsoft.com/office/drawing/2014/main" id="{3946682C-6D2A-577E-C165-5D52A116CF08}"/>
              </a:ext>
            </a:extLst>
          </p:cNvPr>
          <p:cNvSpPr txBox="1"/>
          <p:nvPr/>
        </p:nvSpPr>
        <p:spPr>
          <a:xfrm>
            <a:off x="6917032" y="3678563"/>
            <a:ext cx="894276" cy="397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 b="1" dirty="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Ejemplo</a:t>
            </a:r>
            <a:endParaRPr sz="1800" dirty="0">
              <a:solidFill>
                <a:schemeClr val="dk2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" name="Google Shape;80;p15">
            <a:extLst>
              <a:ext uri="{FF2B5EF4-FFF2-40B4-BE49-F238E27FC236}">
                <a16:creationId xmlns:a16="http://schemas.microsoft.com/office/drawing/2014/main" id="{8FFCC121-DB68-B75B-8004-4596E5667E96}"/>
              </a:ext>
            </a:extLst>
          </p:cNvPr>
          <p:cNvSpPr txBox="1"/>
          <p:nvPr/>
        </p:nvSpPr>
        <p:spPr>
          <a:xfrm>
            <a:off x="6471246" y="4009621"/>
            <a:ext cx="2517111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/>
            <a:r>
              <a:rPr lang="es-ES" sz="1000" dirty="0" err="1">
                <a:solidFill>
                  <a:srgbClr val="1C4587"/>
                </a:solidFill>
                <a:latin typeface="Sora"/>
                <a:cs typeface="Sora"/>
              </a:rPr>
              <a:t>Category</a:t>
            </a:r>
            <a:r>
              <a:rPr lang="es-ES" sz="1000" dirty="0">
                <a:solidFill>
                  <a:srgbClr val="1C4587"/>
                </a:solidFill>
                <a:latin typeface="Sora"/>
                <a:cs typeface="Sora"/>
              </a:rPr>
              <a:t> </a:t>
            </a:r>
            <a:r>
              <a:rPr lang="es-ES" sz="1000" dirty="0" err="1">
                <a:solidFill>
                  <a:srgbClr val="1C4587"/>
                </a:solidFill>
                <a:latin typeface="Sora"/>
                <a:cs typeface="Sora"/>
              </a:rPr>
              <a:t>seller_id</a:t>
            </a:r>
            <a:br>
              <a:rPr lang="es-ES" sz="1000" dirty="0">
                <a:solidFill>
                  <a:srgbClr val="1C4587"/>
                </a:solidFill>
                <a:latin typeface="Sora"/>
                <a:cs typeface="Sora"/>
              </a:rPr>
            </a:br>
            <a:br>
              <a:rPr lang="es-ES" sz="1000" dirty="0">
                <a:solidFill>
                  <a:srgbClr val="1C4587"/>
                </a:solidFill>
                <a:latin typeface="Sora"/>
                <a:cs typeface="Sora"/>
              </a:rPr>
            </a:br>
            <a:r>
              <a:rPr lang="es-ES" sz="1000" dirty="0">
                <a:solidFill>
                  <a:srgbClr val="1C4587"/>
                </a:solidFill>
                <a:latin typeface="Sora"/>
                <a:cs typeface="Sora"/>
              </a:rPr>
              <a:t>Predecir si una orden es fraudulenta</a:t>
            </a:r>
            <a:endParaRPr sz="1000" dirty="0">
              <a:solidFill>
                <a:srgbClr val="1C4587"/>
              </a:solidFill>
              <a:latin typeface="Sora"/>
              <a:cs typeface="Sora"/>
              <a:sym typeface="Sor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-24500"/>
            <a:ext cx="914399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 txBox="1"/>
          <p:nvPr/>
        </p:nvSpPr>
        <p:spPr>
          <a:xfrm>
            <a:off x="972200" y="354125"/>
            <a:ext cx="4498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High Cardinality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2" name="Google Shape;62;p14"/>
          <p:cNvSpPr/>
          <p:nvPr/>
        </p:nvSpPr>
        <p:spPr>
          <a:xfrm>
            <a:off x="817025" y="354125"/>
            <a:ext cx="55200" cy="554100"/>
          </a:xfrm>
          <a:prstGeom prst="rect">
            <a:avLst/>
          </a:prstGeom>
          <a:solidFill>
            <a:srgbClr val="0B5394"/>
          </a:solidFill>
          <a:ln w="9525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4"/>
          <p:cNvSpPr txBox="1"/>
          <p:nvPr/>
        </p:nvSpPr>
        <p:spPr>
          <a:xfrm>
            <a:off x="419125" y="1297898"/>
            <a:ext cx="237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 b="1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Descripción</a:t>
            </a:r>
            <a:endParaRPr sz="1800">
              <a:solidFill>
                <a:schemeClr val="dk2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419125" y="1667200"/>
            <a:ext cx="5961600" cy="6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La cardinalidad alta se refiere a </a:t>
            </a:r>
            <a:r>
              <a:rPr lang="es" sz="1000" b="1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variables categóricas</a:t>
            </a:r>
            <a:r>
              <a:rPr lang="es" sz="10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 que contienen un </a:t>
            </a:r>
            <a:r>
              <a:rPr lang="es" sz="1000" b="1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gran número de valores únicos</a:t>
            </a:r>
            <a:r>
              <a:rPr lang="es" sz="10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. Por ejemplo, variables como códigos postales, nombres de ciudades o temáticas de libros</a:t>
            </a:r>
            <a:endParaRPr sz="1000">
              <a:solidFill>
                <a:srgbClr val="1C4587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5" name="Google Shape;65;p14"/>
          <p:cNvSpPr txBox="1"/>
          <p:nvPr/>
        </p:nvSpPr>
        <p:spPr>
          <a:xfrm>
            <a:off x="419125" y="2463375"/>
            <a:ext cx="40665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 b="1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¿Qué problemas nos genera?</a:t>
            </a:r>
            <a:endParaRPr sz="1800">
              <a:solidFill>
                <a:schemeClr val="dk2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419125" y="2855125"/>
            <a:ext cx="6000600" cy="157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1000"/>
              <a:buFont typeface="Sora"/>
              <a:buChar char="-"/>
            </a:pPr>
            <a:r>
              <a:rPr lang="es" sz="1000" b="1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Dimensionalidad excesiva</a:t>
            </a:r>
            <a:r>
              <a:rPr lang="es" sz="10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: </a:t>
            </a:r>
            <a:br>
              <a:rPr lang="es" sz="10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</a:br>
            <a:r>
              <a:rPr lang="es" sz="10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Se generan matrices dispersas aumentando mucho la dimensionalidad (curse of dimensionality)</a:t>
            </a:r>
            <a:endParaRPr sz="1000">
              <a:solidFill>
                <a:srgbClr val="1C4587"/>
              </a:solidFill>
              <a:latin typeface="Sora"/>
              <a:ea typeface="Sora"/>
              <a:cs typeface="Sora"/>
              <a:sym typeface="Sora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1000"/>
              <a:buFont typeface="Sora"/>
              <a:buChar char="-"/>
            </a:pPr>
            <a:r>
              <a:rPr lang="es" sz="1000" b="1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Overfitting en el long tail</a:t>
            </a:r>
            <a:r>
              <a:rPr lang="es" sz="10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:</a:t>
            </a:r>
            <a:br>
              <a:rPr lang="es" sz="10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</a:br>
            <a:r>
              <a:rPr lang="es" sz="10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Las categorías poco frecuentes se vuelven inestables al tener pocos registros y tienden a generar overfitting.</a:t>
            </a:r>
            <a:endParaRPr sz="1000">
              <a:solidFill>
                <a:srgbClr val="1C4587"/>
              </a:solidFill>
              <a:latin typeface="Sora"/>
              <a:ea typeface="Sora"/>
              <a:cs typeface="Sora"/>
              <a:sym typeface="Sora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1000"/>
              <a:buFont typeface="Sora"/>
              <a:buChar char="-"/>
            </a:pPr>
            <a:r>
              <a:rPr lang="es" sz="1000" b="1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Categorías no mapeadas</a:t>
            </a:r>
            <a:r>
              <a:rPr lang="es" sz="10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:</a:t>
            </a:r>
            <a:br>
              <a:rPr lang="es" sz="10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</a:br>
            <a:r>
              <a:rPr lang="es" sz="10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Es posible que en producción aparezcan categorías que no aparecieron en el train</a:t>
            </a:r>
            <a:endParaRPr sz="1000">
              <a:solidFill>
                <a:srgbClr val="1C4587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67" name="Google Shape;67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72300" y="1893750"/>
            <a:ext cx="2338075" cy="2311874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" y="0"/>
            <a:ext cx="9143996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5"/>
          <p:cNvSpPr txBox="1"/>
          <p:nvPr/>
        </p:nvSpPr>
        <p:spPr>
          <a:xfrm>
            <a:off x="972200" y="354125"/>
            <a:ext cx="44985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High Cardinality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4" name="Google Shape;74;p15"/>
          <p:cNvSpPr/>
          <p:nvPr/>
        </p:nvSpPr>
        <p:spPr>
          <a:xfrm>
            <a:off x="817025" y="354125"/>
            <a:ext cx="55200" cy="554100"/>
          </a:xfrm>
          <a:prstGeom prst="rect">
            <a:avLst/>
          </a:prstGeom>
          <a:solidFill>
            <a:srgbClr val="0B5394"/>
          </a:solidFill>
          <a:ln w="9525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15"/>
          <p:cNvSpPr txBox="1"/>
          <p:nvPr/>
        </p:nvSpPr>
        <p:spPr>
          <a:xfrm>
            <a:off x="419125" y="1145498"/>
            <a:ext cx="2375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 b="1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Posibles soluciones</a:t>
            </a:r>
            <a:endParaRPr sz="1800">
              <a:solidFill>
                <a:schemeClr val="dk2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419125" y="1468178"/>
            <a:ext cx="5843400" cy="3901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92100">
              <a:lnSpc>
                <a:spcPct val="115000"/>
              </a:lnSpc>
              <a:buClr>
                <a:srgbClr val="1C4587"/>
              </a:buClr>
              <a:buSzPts val="1000"/>
              <a:buFont typeface="Sora"/>
              <a:buChar char="+"/>
            </a:pPr>
            <a:r>
              <a:rPr lang="es-ES" sz="1000" b="1" dirty="0">
                <a:solidFill>
                  <a:srgbClr val="1C4587"/>
                </a:solidFill>
                <a:latin typeface="Sora"/>
                <a:cs typeface="Sora"/>
              </a:rPr>
              <a:t>Delegación Nativa</a:t>
            </a:r>
            <a:r>
              <a:rPr lang="es" sz="1000" b="1" dirty="0">
                <a:solidFill>
                  <a:srgbClr val="1C4587"/>
                </a:solidFill>
                <a:latin typeface="Sora"/>
                <a:cs typeface="Sora"/>
                <a:sym typeface="Sora"/>
              </a:rPr>
              <a:t> </a:t>
            </a:r>
            <a:br>
              <a:rPr lang="es" sz="1000" dirty="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</a:br>
            <a:r>
              <a:rPr lang="es-ES" sz="1000" dirty="0">
                <a:solidFill>
                  <a:srgbClr val="1C4587"/>
                </a:solidFill>
                <a:latin typeface="Sora"/>
                <a:cs typeface="Sora"/>
              </a:rPr>
              <a:t>Dejar que algoritmos como </a:t>
            </a:r>
            <a:r>
              <a:rPr lang="es-ES" sz="1000" b="1" dirty="0" err="1">
                <a:solidFill>
                  <a:srgbClr val="1C4587"/>
                </a:solidFill>
                <a:latin typeface="Sora"/>
                <a:cs typeface="Sora"/>
              </a:rPr>
              <a:t>CatBoost</a:t>
            </a:r>
            <a:r>
              <a:rPr lang="es-ES" sz="1000" dirty="0">
                <a:solidFill>
                  <a:srgbClr val="1C4587"/>
                </a:solidFill>
                <a:latin typeface="Sora"/>
                <a:cs typeface="Sora"/>
              </a:rPr>
              <a:t> o </a:t>
            </a:r>
            <a:r>
              <a:rPr lang="es-ES" sz="1000" b="1" dirty="0" err="1">
                <a:solidFill>
                  <a:srgbClr val="1C4587"/>
                </a:solidFill>
                <a:latin typeface="Sora"/>
                <a:cs typeface="Sora"/>
              </a:rPr>
              <a:t>LightGBM</a:t>
            </a:r>
            <a:r>
              <a:rPr lang="es-ES" sz="1000" dirty="0">
                <a:solidFill>
                  <a:srgbClr val="1C4587"/>
                </a:solidFill>
                <a:latin typeface="Sora"/>
                <a:cs typeface="Sora"/>
              </a:rPr>
              <a:t> manejen la variable categórica internamente para evitar fugas. (asegurarse de que se pasen como categóricas)</a:t>
            </a:r>
            <a:br>
              <a:rPr lang="es" sz="1000" dirty="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</a:br>
            <a:endParaRPr sz="1000" dirty="0">
              <a:solidFill>
                <a:srgbClr val="1C4587"/>
              </a:solidFill>
              <a:latin typeface="Sora"/>
              <a:ea typeface="Sora"/>
              <a:cs typeface="Sora"/>
              <a:sym typeface="Sora"/>
            </a:endParaRPr>
          </a:p>
          <a:p>
            <a:pPr marL="457200" lvl="0" indent="-292100">
              <a:lnSpc>
                <a:spcPct val="115000"/>
              </a:lnSpc>
              <a:buClr>
                <a:srgbClr val="1C4587"/>
              </a:buClr>
              <a:buSzPts val="1000"/>
              <a:buFont typeface="Sora"/>
              <a:buChar char="+"/>
            </a:pPr>
            <a:r>
              <a:rPr lang="es-ES" sz="1000" b="1" dirty="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Target </a:t>
            </a:r>
            <a:r>
              <a:rPr lang="es-ES" sz="1000" b="1" dirty="0" err="1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Encoding</a:t>
            </a:r>
            <a:br>
              <a:rPr lang="es" sz="1000" dirty="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</a:br>
            <a:r>
              <a:rPr lang="es-ES" sz="1000" dirty="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Reemplaza cada categoría con un estadístico de la variable objetivo (</a:t>
            </a:r>
            <a:r>
              <a:rPr lang="es-ES" sz="1000" dirty="0" err="1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ej</a:t>
            </a:r>
            <a:r>
              <a:rPr lang="es-ES" sz="1000" dirty="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: mean).</a:t>
            </a:r>
            <a:br>
              <a:rPr lang="es-ES" sz="1000" dirty="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</a:br>
            <a:r>
              <a:rPr lang="es-ES" sz="1000" dirty="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Alto riesgo de</a:t>
            </a:r>
            <a:r>
              <a:rPr lang="es-ES" sz="1000" b="1" dirty="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 Target </a:t>
            </a:r>
            <a:r>
              <a:rPr lang="es-ES" sz="1000" b="1" dirty="0" err="1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Leakage</a:t>
            </a:r>
            <a:r>
              <a:rPr lang="es-ES" sz="1000" b="1" dirty="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 </a:t>
            </a:r>
            <a:r>
              <a:rPr lang="es-ES" sz="1000" dirty="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en categorías con pocos registros. </a:t>
            </a:r>
            <a:br>
              <a:rPr lang="es-ES" sz="1000" dirty="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</a:br>
            <a:r>
              <a:rPr lang="es-ES" sz="1000" u="sng" dirty="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Regla</a:t>
            </a:r>
            <a:r>
              <a:rPr lang="es-ES" sz="1000" dirty="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: Debe implementarse con </a:t>
            </a:r>
            <a:r>
              <a:rPr lang="es-ES" sz="1000" b="1" dirty="0" err="1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Out-of-Fold</a:t>
            </a:r>
            <a:r>
              <a:rPr lang="es-ES" sz="1000" b="1" dirty="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 (K-</a:t>
            </a:r>
            <a:r>
              <a:rPr lang="es-ES" sz="1000" b="1" dirty="0" err="1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Fold</a:t>
            </a:r>
            <a:r>
              <a:rPr lang="es-ES" sz="1000" b="1" dirty="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)</a:t>
            </a:r>
            <a:r>
              <a:rPr lang="es-ES" sz="1000" dirty="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 y </a:t>
            </a:r>
            <a:r>
              <a:rPr lang="es-ES" sz="1000" b="1" dirty="0" err="1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Smoothing</a:t>
            </a:r>
            <a:r>
              <a:rPr lang="es-ES" sz="1000" dirty="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 (suavizar la media hacia el promedio global) para evitar la memorización. (ver </a:t>
            </a:r>
            <a:r>
              <a:rPr lang="es-ES" sz="1000" dirty="0" err="1">
                <a:solidFill>
                  <a:srgbClr val="1C4587"/>
                </a:solidFill>
                <a:latin typeface="Sora"/>
                <a:cs typeface="Sora"/>
                <a:hlinkClick r:id="rId4"/>
              </a:rPr>
              <a:t>TargetEncoder</a:t>
            </a:r>
            <a:r>
              <a:rPr lang="es-ES" sz="1000" dirty="0">
                <a:solidFill>
                  <a:srgbClr val="1C4587"/>
                </a:solidFill>
                <a:latin typeface="Sora"/>
                <a:cs typeface="Sora"/>
              </a:rPr>
              <a:t>)</a:t>
            </a:r>
          </a:p>
          <a:p>
            <a:pPr marL="457200" lvl="0" indent="-292100">
              <a:lnSpc>
                <a:spcPct val="115000"/>
              </a:lnSpc>
              <a:buClr>
                <a:srgbClr val="1C4587"/>
              </a:buClr>
              <a:buSzPts val="1000"/>
              <a:buFont typeface="Sora"/>
              <a:buChar char="+"/>
            </a:pPr>
            <a:endParaRPr lang="es-ES" sz="1000" dirty="0">
              <a:solidFill>
                <a:srgbClr val="1C4587"/>
              </a:solidFill>
              <a:latin typeface="Sora"/>
              <a:cs typeface="Sora"/>
              <a:sym typeface="Sora"/>
            </a:endParaRPr>
          </a:p>
          <a:p>
            <a:pPr marL="457200" lvl="0" indent="-292100">
              <a:lnSpc>
                <a:spcPct val="115000"/>
              </a:lnSpc>
              <a:buClr>
                <a:srgbClr val="1C4587"/>
              </a:buClr>
              <a:buSzPts val="1000"/>
              <a:buFont typeface="Sora"/>
              <a:buChar char="+"/>
            </a:pPr>
            <a:r>
              <a:rPr lang="es-ES" sz="1000" b="1" dirty="0" err="1">
                <a:solidFill>
                  <a:srgbClr val="1C4587"/>
                </a:solidFill>
                <a:latin typeface="Sora"/>
                <a:cs typeface="Sora"/>
                <a:sym typeface="Sora"/>
              </a:rPr>
              <a:t>Frequency</a:t>
            </a:r>
            <a:r>
              <a:rPr lang="es-ES" sz="1000" b="1" dirty="0">
                <a:solidFill>
                  <a:srgbClr val="1C4587"/>
                </a:solidFill>
                <a:latin typeface="Sora"/>
                <a:cs typeface="Sora"/>
                <a:sym typeface="Sora"/>
              </a:rPr>
              <a:t> </a:t>
            </a:r>
            <a:r>
              <a:rPr lang="es-ES" sz="1000" b="1" dirty="0" err="1">
                <a:solidFill>
                  <a:srgbClr val="1C4587"/>
                </a:solidFill>
                <a:latin typeface="Sora"/>
                <a:cs typeface="Sora"/>
                <a:sym typeface="Sora"/>
              </a:rPr>
              <a:t>Encoding</a:t>
            </a:r>
            <a:br>
              <a:rPr lang="es-ES" sz="1000" dirty="0">
                <a:solidFill>
                  <a:srgbClr val="1C4587"/>
                </a:solidFill>
                <a:latin typeface="Sora"/>
                <a:cs typeface="Sora"/>
                <a:sym typeface="Sora"/>
              </a:rPr>
            </a:br>
            <a:r>
              <a:rPr lang="es-ES" sz="1000" dirty="0">
                <a:solidFill>
                  <a:srgbClr val="1C4587"/>
                </a:solidFill>
                <a:latin typeface="Sora"/>
                <a:cs typeface="Sora"/>
                <a:sym typeface="Sora"/>
              </a:rPr>
              <a:t>Sustituye cada categoría por su frecuencia o conteo en el </a:t>
            </a:r>
            <a:r>
              <a:rPr lang="es-ES" sz="1000" dirty="0" err="1">
                <a:solidFill>
                  <a:srgbClr val="1C4587"/>
                </a:solidFill>
                <a:latin typeface="Sora"/>
                <a:cs typeface="Sora"/>
                <a:sym typeface="Sora"/>
              </a:rPr>
              <a:t>dataset</a:t>
            </a:r>
            <a:r>
              <a:rPr lang="es-ES" sz="1000" dirty="0">
                <a:solidFill>
                  <a:srgbClr val="1C4587"/>
                </a:solidFill>
                <a:latin typeface="Sora"/>
                <a:cs typeface="Sora"/>
                <a:sym typeface="Sora"/>
              </a:rPr>
              <a:t>.</a:t>
            </a:r>
            <a:br>
              <a:rPr lang="es-ES" sz="1000" dirty="0">
                <a:solidFill>
                  <a:srgbClr val="1C4587"/>
                </a:solidFill>
                <a:latin typeface="Sora"/>
                <a:cs typeface="Sora"/>
                <a:sym typeface="Sora"/>
              </a:rPr>
            </a:br>
            <a:r>
              <a:rPr lang="es-ES" sz="1000" dirty="0">
                <a:solidFill>
                  <a:srgbClr val="1C4587"/>
                </a:solidFill>
                <a:latin typeface="Sora"/>
                <a:cs typeface="Sora"/>
                <a:sym typeface="Sora"/>
              </a:rPr>
              <a:t>Alternativa </a:t>
            </a:r>
            <a:r>
              <a:rPr lang="es-ES" sz="1000" b="1" dirty="0">
                <a:solidFill>
                  <a:srgbClr val="1C4587"/>
                </a:solidFill>
                <a:latin typeface="Sora"/>
                <a:cs typeface="Sora"/>
                <a:sym typeface="Sora"/>
              </a:rPr>
              <a:t>más segura </a:t>
            </a:r>
            <a:r>
              <a:rPr lang="es-ES" sz="1000" dirty="0">
                <a:solidFill>
                  <a:srgbClr val="1C4587"/>
                </a:solidFill>
                <a:latin typeface="Sora"/>
                <a:cs typeface="Sora"/>
                <a:sym typeface="Sora"/>
              </a:rPr>
              <a:t>(riesgo nulo de Target </a:t>
            </a:r>
            <a:r>
              <a:rPr lang="es-ES" sz="1000" dirty="0" err="1">
                <a:solidFill>
                  <a:srgbClr val="1C4587"/>
                </a:solidFill>
                <a:latin typeface="Sora"/>
                <a:cs typeface="Sora"/>
                <a:sym typeface="Sora"/>
              </a:rPr>
              <a:t>Leakage</a:t>
            </a:r>
            <a:r>
              <a:rPr lang="es-ES" sz="1000" dirty="0">
                <a:solidFill>
                  <a:srgbClr val="1C4587"/>
                </a:solidFill>
                <a:latin typeface="Sora"/>
                <a:cs typeface="Sora"/>
                <a:sym typeface="Sora"/>
              </a:rPr>
              <a:t>). Ideal cuando la rareza/popularidad de la entidad es la señal principal o en modelos no supervisados. Se debe recalcular en cada </a:t>
            </a:r>
            <a:r>
              <a:rPr lang="es-ES" sz="1000" dirty="0" err="1">
                <a:solidFill>
                  <a:srgbClr val="1C4587"/>
                </a:solidFill>
                <a:latin typeface="Sora"/>
                <a:cs typeface="Sora"/>
                <a:sym typeface="Sora"/>
              </a:rPr>
              <a:t>fold</a:t>
            </a:r>
            <a:r>
              <a:rPr lang="es-ES" sz="1000" dirty="0">
                <a:solidFill>
                  <a:srgbClr val="1C4587"/>
                </a:solidFill>
                <a:latin typeface="Sora"/>
                <a:cs typeface="Sora"/>
                <a:sym typeface="Sora"/>
              </a:rPr>
              <a:t> </a:t>
            </a:r>
            <a:r>
              <a:rPr lang="es-ES" sz="1000" b="1" dirty="0">
                <a:solidFill>
                  <a:srgbClr val="1C4587"/>
                </a:solidFill>
                <a:latin typeface="Sora"/>
                <a:cs typeface="Sora"/>
                <a:sym typeface="Sora"/>
              </a:rPr>
              <a:t>usando el </a:t>
            </a:r>
            <a:r>
              <a:rPr lang="es-ES" sz="1000" b="1" dirty="0" err="1">
                <a:solidFill>
                  <a:srgbClr val="1C4587"/>
                </a:solidFill>
                <a:latin typeface="Sora"/>
                <a:cs typeface="Sora"/>
                <a:sym typeface="Sora"/>
              </a:rPr>
              <a:t>train</a:t>
            </a:r>
            <a:endParaRPr lang="es-ES" sz="1000" b="1" dirty="0">
              <a:solidFill>
                <a:srgbClr val="1C4587"/>
              </a:solidFill>
              <a:latin typeface="Sora"/>
              <a:cs typeface="Sora"/>
              <a:sym typeface="Sora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1000"/>
              <a:buFont typeface="Sora"/>
              <a:buChar char="+"/>
            </a:pPr>
            <a:endParaRPr lang="en-US" sz="1000" b="1" dirty="0">
              <a:solidFill>
                <a:srgbClr val="1C4587"/>
              </a:solidFill>
              <a:latin typeface="Sora"/>
              <a:ea typeface="Sora"/>
              <a:cs typeface="Sora"/>
              <a:sym typeface="Sora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1000"/>
              <a:buFont typeface="Sora"/>
              <a:buChar char="+"/>
            </a:pPr>
            <a:r>
              <a:rPr lang="es" sz="1000" b="1" dirty="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Aggregation (Agrupación de categorías)</a:t>
            </a:r>
            <a:br>
              <a:rPr lang="es" sz="1000" dirty="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</a:br>
            <a:r>
              <a:rPr lang="es" sz="1000" dirty="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Agrupa categorías poco frecuentes en una sola </a:t>
            </a:r>
            <a:r>
              <a:rPr lang="es" sz="1000" b="1" dirty="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categoría "OTROS"</a:t>
            </a:r>
            <a:r>
              <a:rPr lang="es" sz="1000" dirty="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.</a:t>
            </a:r>
            <a:endParaRPr sz="1000" dirty="0">
              <a:solidFill>
                <a:srgbClr val="1C4587"/>
              </a:solidFill>
              <a:latin typeface="Sora"/>
              <a:ea typeface="Sora"/>
              <a:cs typeface="Sora"/>
              <a:sym typeface="Sora"/>
            </a:endParaRPr>
          </a:p>
          <a:p>
            <a:pPr marL="914400" lvl="1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1000"/>
              <a:buFont typeface="Sora"/>
              <a:buChar char="+"/>
            </a:pPr>
            <a:r>
              <a:rPr lang="es" sz="1000" dirty="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Elimina el ruido de categorías con muestras insuficientes</a:t>
            </a:r>
            <a:endParaRPr sz="1000" dirty="0">
              <a:solidFill>
                <a:srgbClr val="1C4587"/>
              </a:solidFill>
              <a:latin typeface="Sora"/>
              <a:ea typeface="Sora"/>
              <a:cs typeface="Sora"/>
              <a:sym typeface="Sora"/>
            </a:endParaRPr>
          </a:p>
          <a:p>
            <a:pPr marL="914400" lvl="1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1000"/>
              <a:buFont typeface="Sora"/>
              <a:buChar char="+"/>
            </a:pPr>
            <a:r>
              <a:rPr lang="es" sz="1000" dirty="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Para nueva categorías entra en “OTROS”</a:t>
            </a:r>
            <a:endParaRPr sz="1000" dirty="0">
              <a:solidFill>
                <a:srgbClr val="1C4587"/>
              </a:solidFill>
              <a:latin typeface="Sora"/>
              <a:ea typeface="Sora"/>
              <a:cs typeface="Sora"/>
              <a:sym typeface="Sora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rgbClr val="1C4587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4168475" y="222125"/>
            <a:ext cx="2651400" cy="1430100"/>
          </a:xfrm>
          <a:prstGeom prst="rect">
            <a:avLst/>
          </a:prstGeom>
          <a:solidFill>
            <a:schemeClr val="lt2"/>
          </a:solidFill>
          <a:ln w="19050" cap="flat" cmpd="sng">
            <a:solidFill>
              <a:srgbClr val="0B5394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134F5C"/>
              </a:solidFill>
              <a:highlight>
                <a:schemeClr val="lt2"/>
              </a:highlight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4570325" y="299000"/>
            <a:ext cx="1847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200" b="1" dirty="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¿Cómo lo detecto?</a:t>
            </a:r>
            <a:endParaRPr sz="1800" dirty="0">
              <a:solidFill>
                <a:schemeClr val="dk2"/>
              </a:solidFill>
              <a:latin typeface="Sora"/>
              <a:ea typeface="Sora"/>
              <a:cs typeface="Sora"/>
              <a:sym typeface="Sora"/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4168475" y="641575"/>
            <a:ext cx="2651400" cy="110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1000"/>
              <a:buFont typeface="Sora"/>
              <a:buChar char="●"/>
            </a:pPr>
            <a:r>
              <a:rPr lang="es" sz="1000" dirty="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Gráfico de pareto de categorías</a:t>
            </a:r>
            <a:br>
              <a:rPr lang="es" sz="1000" dirty="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</a:br>
            <a:endParaRPr sz="1000" dirty="0">
              <a:solidFill>
                <a:srgbClr val="1C4587"/>
              </a:solidFill>
              <a:latin typeface="Sora"/>
              <a:ea typeface="Sora"/>
              <a:cs typeface="Sora"/>
              <a:sym typeface="Sora"/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Clr>
                <a:srgbClr val="1C4587"/>
              </a:buClr>
              <a:buSzPts val="1000"/>
              <a:buFont typeface="Sora"/>
              <a:buChar char="●"/>
            </a:pPr>
            <a:r>
              <a:rPr lang="es" sz="1000" dirty="0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Categorías con menos de un umbral (ej: 1% de registros)</a:t>
            </a:r>
            <a:endParaRPr sz="1000" dirty="0">
              <a:solidFill>
                <a:srgbClr val="1C4587"/>
              </a:solidFill>
              <a:latin typeface="Sora"/>
              <a:ea typeface="Sora"/>
              <a:cs typeface="Sora"/>
              <a:sym typeface="Sora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dirty="0">
              <a:solidFill>
                <a:srgbClr val="1C4587"/>
              </a:solidFill>
              <a:latin typeface="Sora"/>
              <a:ea typeface="Sora"/>
              <a:cs typeface="Sora"/>
              <a:sym typeface="Sora"/>
            </a:endParaRPr>
          </a:p>
        </p:txBody>
      </p:sp>
      <p:pic>
        <p:nvPicPr>
          <p:cNvPr id="81" name="Google Shape;8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313902" y="1697175"/>
            <a:ext cx="1715026" cy="3086449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5"/>
          <p:cNvSpPr/>
          <p:nvPr/>
        </p:nvSpPr>
        <p:spPr>
          <a:xfrm>
            <a:off x="6952500" y="2387050"/>
            <a:ext cx="238800" cy="2235000"/>
          </a:xfrm>
          <a:prstGeom prst="leftBrace">
            <a:avLst>
              <a:gd name="adj1" fmla="val 50000"/>
              <a:gd name="adj2" fmla="val 50000"/>
            </a:avLst>
          </a:prstGeom>
          <a:noFill/>
          <a:ln w="19050" cap="flat" cmpd="sng">
            <a:solidFill>
              <a:srgbClr val="0B539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5"/>
          <p:cNvSpPr txBox="1"/>
          <p:nvPr/>
        </p:nvSpPr>
        <p:spPr>
          <a:xfrm>
            <a:off x="5831275" y="3304450"/>
            <a:ext cx="10866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solidFill>
                  <a:srgbClr val="1C4587"/>
                </a:solidFill>
                <a:latin typeface="Sora"/>
                <a:ea typeface="Sora"/>
                <a:cs typeface="Sora"/>
                <a:sym typeface="Sora"/>
              </a:rPr>
              <a:t>Long Tail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990</Words>
  <Application>Microsoft Office PowerPoint</Application>
  <PresentationFormat>Presentación en pantalla (16:9)</PresentationFormat>
  <Paragraphs>95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1" baseType="lpstr">
      <vt:lpstr>Arial</vt:lpstr>
      <vt:lpstr>Sora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Tomás Lanza</cp:lastModifiedBy>
  <cp:revision>4</cp:revision>
  <dcterms:modified xsi:type="dcterms:W3CDTF">2026-04-01T05:57:11Z</dcterms:modified>
</cp:coreProperties>
</file>